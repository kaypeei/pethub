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78" r:id="rId4"/>
    <p:sldId id="274" r:id="rId5"/>
    <p:sldId id="285" r:id="rId6"/>
    <p:sldId id="281" r:id="rId7"/>
    <p:sldId id="286" r:id="rId8"/>
    <p:sldId id="292" r:id="rId9"/>
    <p:sldId id="284" r:id="rId10"/>
    <p:sldId id="287" r:id="rId11"/>
    <p:sldId id="288" r:id="rId12"/>
    <p:sldId id="289" r:id="rId13"/>
    <p:sldId id="290" r:id="rId14"/>
    <p:sldId id="291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5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4E4F75-0FBB-4B42-AE2A-425D785B5E25}" type="doc">
      <dgm:prSet loTypeId="urn:microsoft.com/office/officeart/2008/layout/RadialCluster" loCatId="cycl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DDBF50E7-8F2B-4845-B4CF-2ED864FD37D2}">
      <dgm:prSet phldrT="[Text]" custT="1"/>
      <dgm:spPr>
        <a:solidFill>
          <a:schemeClr val="bg1"/>
        </a:solidFill>
      </dgm:spPr>
      <dgm:t>
        <a:bodyPr/>
        <a:lstStyle/>
        <a:p>
          <a:r>
            <a:rPr lang="en-GB" sz="1400" b="1" dirty="0" smtClean="0">
              <a:solidFill>
                <a:schemeClr val="tx1"/>
              </a:solidFill>
              <a:latin typeface="+mn-lt"/>
            </a:rPr>
            <a:t>Project </a:t>
          </a:r>
          <a:r>
            <a:rPr lang="en-GB" sz="1400" b="1" dirty="0" err="1" smtClean="0">
              <a:solidFill>
                <a:schemeClr val="tx1"/>
              </a:solidFill>
              <a:latin typeface="+mn-lt"/>
            </a:rPr>
            <a:t>PetHub</a:t>
          </a:r>
          <a:r>
            <a:rPr lang="en-GB" sz="1400" b="1" dirty="0" smtClean="0">
              <a:solidFill>
                <a:schemeClr val="tx1"/>
              </a:solidFill>
              <a:latin typeface="+mn-lt"/>
            </a:rPr>
            <a:t> </a:t>
          </a:r>
          <a:r>
            <a:rPr lang="en-GB" sz="1400" dirty="0" smtClean="0">
              <a:solidFill>
                <a:schemeClr val="tx1"/>
              </a:solidFill>
              <a:latin typeface="+mn-lt"/>
            </a:rPr>
            <a:t>Woo Commerce Website</a:t>
          </a:r>
          <a:endParaRPr lang="en-GB" sz="1400" dirty="0">
            <a:solidFill>
              <a:schemeClr val="tx1"/>
            </a:solidFill>
            <a:latin typeface="+mn-lt"/>
          </a:endParaRPr>
        </a:p>
      </dgm:t>
    </dgm:pt>
    <dgm:pt modelId="{D0090E6C-ECDA-487F-AA5C-DC055263CFDD}" type="parTrans" cxnId="{12B0FE54-FA32-4258-9781-40FB9CE6ABD8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993C7165-44DD-477D-8A43-B0D37204F2C9}" type="sibTrans" cxnId="{12B0FE54-FA32-4258-9781-40FB9CE6ABD8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7C80F794-8EFC-45F1-AFF2-844E8E5C19D6}">
      <dgm:prSet phldrT="[Text]" custT="1"/>
      <dgm:spPr/>
      <dgm:t>
        <a:bodyPr/>
        <a:lstStyle/>
        <a:p>
          <a:r>
            <a:rPr lang="en-GB" sz="1200" dirty="0" smtClean="0">
              <a:latin typeface="+mn-lt"/>
            </a:rPr>
            <a:t>E-Commerce Core</a:t>
          </a:r>
          <a:endParaRPr lang="en-GB" sz="1200" dirty="0">
            <a:latin typeface="+mn-lt"/>
          </a:endParaRPr>
        </a:p>
      </dgm:t>
    </dgm:pt>
    <dgm:pt modelId="{BD8D836A-8963-4845-8CE0-D5822273F7CB}" type="parTrans" cxnId="{F87F3E66-4F49-46AB-A03A-606017F8CFB8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DA1FDB35-641A-497D-8E83-3C418C22A928}" type="sibTrans" cxnId="{F87F3E66-4F49-46AB-A03A-606017F8CFB8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12488BB3-0D80-41E3-8556-C1224830A0EF}">
      <dgm:prSet phldrT="[Text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GB" sz="1200" dirty="0" smtClean="0">
              <a:latin typeface="+mn-lt"/>
            </a:rPr>
            <a:t>Customer Experience &amp; Login</a:t>
          </a:r>
          <a:endParaRPr lang="en-GB" sz="1200" dirty="0">
            <a:latin typeface="+mn-lt"/>
          </a:endParaRPr>
        </a:p>
      </dgm:t>
    </dgm:pt>
    <dgm:pt modelId="{F459635C-31C1-446F-B5E1-A5CFC654452C}" type="parTrans" cxnId="{FEB5C541-59A3-4EF6-913B-FC8DC4877076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22946609-2356-425F-BD3C-AF0205BD3205}" type="sibTrans" cxnId="{FEB5C541-59A3-4EF6-913B-FC8DC4877076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454C5343-2C09-48B8-987E-F705199280A2}">
      <dgm:prSet phldrT="[Text]"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GB" sz="1200" dirty="0" smtClean="0">
              <a:latin typeface="+mn-lt"/>
            </a:rPr>
            <a:t>Booking &amp; Appointment</a:t>
          </a:r>
          <a:endParaRPr lang="en-GB" sz="1200" dirty="0">
            <a:latin typeface="+mn-lt"/>
          </a:endParaRPr>
        </a:p>
      </dgm:t>
    </dgm:pt>
    <dgm:pt modelId="{9E37F045-4333-412B-AFB4-C5985CA3B185}" type="parTrans" cxnId="{8E2D482C-99E2-451E-8527-B24887C42511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61E7B78B-5321-4001-B389-3F04FFD80132}" type="sibTrans" cxnId="{8E2D482C-99E2-451E-8527-B24887C42511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3D691E04-9678-4F3B-8D67-10D2789AB857}">
      <dgm:prSet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GB" sz="1200" dirty="0" smtClean="0">
              <a:latin typeface="+mn-lt"/>
            </a:rPr>
            <a:t>Content &amp; Engagement</a:t>
          </a:r>
          <a:endParaRPr lang="en-GB" sz="1200" dirty="0">
            <a:latin typeface="+mn-lt"/>
          </a:endParaRPr>
        </a:p>
      </dgm:t>
    </dgm:pt>
    <dgm:pt modelId="{538308BB-388F-4F80-BC88-D5E0CC600801}" type="parTrans" cxnId="{CBF79B9E-2480-4CA1-ABE8-7CE06B1507CB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CB43A188-E16E-44C1-B492-144F0875C6A0}" type="sibTrans" cxnId="{CBF79B9E-2480-4CA1-ABE8-7CE06B1507CB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ABCB00D9-D5EB-4FA9-AC07-0100A516D99E}">
      <dgm:prSet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GB" sz="1200" dirty="0" smtClean="0">
              <a:latin typeface="+mn-lt"/>
            </a:rPr>
            <a:t>Platform infrastructure &amp; Admin</a:t>
          </a:r>
          <a:endParaRPr lang="en-GB" sz="1200" dirty="0">
            <a:latin typeface="+mn-lt"/>
          </a:endParaRPr>
        </a:p>
      </dgm:t>
    </dgm:pt>
    <dgm:pt modelId="{42CEEC0A-AD4A-443C-9BF0-4BCC2F974A9D}" type="parTrans" cxnId="{A6667A07-81AC-4F0E-BA14-ECE0D3A5FB12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154A35C2-0487-4020-855E-578C3DEA43EF}" type="sibTrans" cxnId="{A6667A07-81AC-4F0E-BA14-ECE0D3A5FB12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AF9D71C6-F3F8-4EE4-8C78-B13A3AAAB0E8}">
      <dgm:prSet custT="1"/>
      <dgm:spPr/>
      <dgm:t>
        <a:bodyPr/>
        <a:lstStyle/>
        <a:p>
          <a:endParaRPr lang="en-GB" sz="1800" dirty="0">
            <a:latin typeface="+mn-lt"/>
          </a:endParaRPr>
        </a:p>
      </dgm:t>
    </dgm:pt>
    <dgm:pt modelId="{084621F8-B957-4D47-9BB1-CC1E0237FD08}" type="parTrans" cxnId="{4509940C-561A-4319-9690-BC011C19A2EF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818938F6-CABC-4B05-B582-2E9A2FDF9071}" type="sibTrans" cxnId="{4509940C-561A-4319-9690-BC011C19A2EF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82C7472A-A5DD-42BC-A6A5-95FCCE513FC0}" type="pres">
      <dgm:prSet presAssocID="{0E4E4F75-0FBB-4B42-AE2A-425D785B5E25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GB"/>
        </a:p>
      </dgm:t>
    </dgm:pt>
    <dgm:pt modelId="{64099900-B9EB-474D-BD95-567AB61DF8C4}" type="pres">
      <dgm:prSet presAssocID="{DDBF50E7-8F2B-4845-B4CF-2ED864FD37D2}" presName="singleCycle" presStyleCnt="0"/>
      <dgm:spPr/>
    </dgm:pt>
    <dgm:pt modelId="{A2DBBDAF-992D-4018-89CD-31982D1830A8}" type="pres">
      <dgm:prSet presAssocID="{DDBF50E7-8F2B-4845-B4CF-2ED864FD37D2}" presName="singleCenter" presStyleLbl="node1" presStyleIdx="0" presStyleCnt="6">
        <dgm:presLayoutVars>
          <dgm:chMax val="7"/>
          <dgm:chPref val="7"/>
        </dgm:presLayoutVars>
      </dgm:prSet>
      <dgm:spPr/>
      <dgm:t>
        <a:bodyPr/>
        <a:lstStyle/>
        <a:p>
          <a:endParaRPr lang="en-GB"/>
        </a:p>
      </dgm:t>
    </dgm:pt>
    <dgm:pt modelId="{D767BB44-50DD-41F5-8184-18BB65B60943}" type="pres">
      <dgm:prSet presAssocID="{BD8D836A-8963-4845-8CE0-D5822273F7CB}" presName="Name56" presStyleLbl="parChTrans1D2" presStyleIdx="0" presStyleCnt="5"/>
      <dgm:spPr/>
      <dgm:t>
        <a:bodyPr/>
        <a:lstStyle/>
        <a:p>
          <a:endParaRPr lang="en-GB"/>
        </a:p>
      </dgm:t>
    </dgm:pt>
    <dgm:pt modelId="{2512408B-4E38-45F8-8C42-7CDE3C4FF768}" type="pres">
      <dgm:prSet presAssocID="{7C80F794-8EFC-45F1-AFF2-844E8E5C19D6}" presName="text0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59915D5-6FA3-4352-BD30-55EA4141CCFE}" type="pres">
      <dgm:prSet presAssocID="{F459635C-31C1-446F-B5E1-A5CFC654452C}" presName="Name56" presStyleLbl="parChTrans1D2" presStyleIdx="1" presStyleCnt="5"/>
      <dgm:spPr/>
      <dgm:t>
        <a:bodyPr/>
        <a:lstStyle/>
        <a:p>
          <a:endParaRPr lang="en-GB"/>
        </a:p>
      </dgm:t>
    </dgm:pt>
    <dgm:pt modelId="{F0965751-2919-4603-935F-D369AAE406D4}" type="pres">
      <dgm:prSet presAssocID="{12488BB3-0D80-41E3-8556-C1224830A0EF}" presName="text0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9EA70A1-2F9A-4E00-93AC-F0FDE96728D5}" type="pres">
      <dgm:prSet presAssocID="{9E37F045-4333-412B-AFB4-C5985CA3B185}" presName="Name56" presStyleLbl="parChTrans1D2" presStyleIdx="2" presStyleCnt="5"/>
      <dgm:spPr/>
      <dgm:t>
        <a:bodyPr/>
        <a:lstStyle/>
        <a:p>
          <a:endParaRPr lang="en-GB"/>
        </a:p>
      </dgm:t>
    </dgm:pt>
    <dgm:pt modelId="{B3CD52CE-7A8A-45AB-98C3-3863831D798A}" type="pres">
      <dgm:prSet presAssocID="{454C5343-2C09-48B8-987E-F705199280A2}" presName="text0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4B1B68B-1456-49C5-8D8E-5343C4F99274}" type="pres">
      <dgm:prSet presAssocID="{538308BB-388F-4F80-BC88-D5E0CC600801}" presName="Name56" presStyleLbl="parChTrans1D2" presStyleIdx="3" presStyleCnt="5"/>
      <dgm:spPr/>
      <dgm:t>
        <a:bodyPr/>
        <a:lstStyle/>
        <a:p>
          <a:endParaRPr lang="en-GB"/>
        </a:p>
      </dgm:t>
    </dgm:pt>
    <dgm:pt modelId="{20203920-1B44-4C5C-B600-F3F2F2BD08BE}" type="pres">
      <dgm:prSet presAssocID="{3D691E04-9678-4F3B-8D67-10D2789AB857}" presName="text0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198E825-1E13-4053-AFA5-0B38253347A5}" type="pres">
      <dgm:prSet presAssocID="{42CEEC0A-AD4A-443C-9BF0-4BCC2F974A9D}" presName="Name56" presStyleLbl="parChTrans1D2" presStyleIdx="4" presStyleCnt="5"/>
      <dgm:spPr/>
      <dgm:t>
        <a:bodyPr/>
        <a:lstStyle/>
        <a:p>
          <a:endParaRPr lang="en-GB"/>
        </a:p>
      </dgm:t>
    </dgm:pt>
    <dgm:pt modelId="{DA4DD503-3F32-4029-B327-192C285B417B}" type="pres">
      <dgm:prSet presAssocID="{ABCB00D9-D5EB-4FA9-AC07-0100A516D99E}" presName="text0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649F5F5-9F53-4374-86E7-E3DAD73BC0FC}" type="presOf" srcId="{454C5343-2C09-48B8-987E-F705199280A2}" destId="{B3CD52CE-7A8A-45AB-98C3-3863831D798A}" srcOrd="0" destOrd="0" presId="urn:microsoft.com/office/officeart/2008/layout/RadialCluster"/>
    <dgm:cxn modelId="{A6667A07-81AC-4F0E-BA14-ECE0D3A5FB12}" srcId="{DDBF50E7-8F2B-4845-B4CF-2ED864FD37D2}" destId="{ABCB00D9-D5EB-4FA9-AC07-0100A516D99E}" srcOrd="4" destOrd="0" parTransId="{42CEEC0A-AD4A-443C-9BF0-4BCC2F974A9D}" sibTransId="{154A35C2-0487-4020-855E-578C3DEA43EF}"/>
    <dgm:cxn modelId="{1F0B99D6-644F-4181-B6FF-1CAD3D0F47F8}" type="presOf" srcId="{7C80F794-8EFC-45F1-AFF2-844E8E5C19D6}" destId="{2512408B-4E38-45F8-8C42-7CDE3C4FF768}" srcOrd="0" destOrd="0" presId="urn:microsoft.com/office/officeart/2008/layout/RadialCluster"/>
    <dgm:cxn modelId="{EB7D3B81-1253-48B3-B10C-A66AC9CF7E1A}" type="presOf" srcId="{9E37F045-4333-412B-AFB4-C5985CA3B185}" destId="{F9EA70A1-2F9A-4E00-93AC-F0FDE96728D5}" srcOrd="0" destOrd="0" presId="urn:microsoft.com/office/officeart/2008/layout/RadialCluster"/>
    <dgm:cxn modelId="{F87F3E66-4F49-46AB-A03A-606017F8CFB8}" srcId="{DDBF50E7-8F2B-4845-B4CF-2ED864FD37D2}" destId="{7C80F794-8EFC-45F1-AFF2-844E8E5C19D6}" srcOrd="0" destOrd="0" parTransId="{BD8D836A-8963-4845-8CE0-D5822273F7CB}" sibTransId="{DA1FDB35-641A-497D-8E83-3C418C22A928}"/>
    <dgm:cxn modelId="{12B0FE54-FA32-4258-9781-40FB9CE6ABD8}" srcId="{0E4E4F75-0FBB-4B42-AE2A-425D785B5E25}" destId="{DDBF50E7-8F2B-4845-B4CF-2ED864FD37D2}" srcOrd="0" destOrd="0" parTransId="{D0090E6C-ECDA-487F-AA5C-DC055263CFDD}" sibTransId="{993C7165-44DD-477D-8A43-B0D37204F2C9}"/>
    <dgm:cxn modelId="{673E989E-227E-49B4-83F5-F824B33F3223}" type="presOf" srcId="{0E4E4F75-0FBB-4B42-AE2A-425D785B5E25}" destId="{82C7472A-A5DD-42BC-A6A5-95FCCE513FC0}" srcOrd="0" destOrd="0" presId="urn:microsoft.com/office/officeart/2008/layout/RadialCluster"/>
    <dgm:cxn modelId="{373B81D8-607D-4B5C-AB50-7374ECCBEB83}" type="presOf" srcId="{12488BB3-0D80-41E3-8556-C1224830A0EF}" destId="{F0965751-2919-4603-935F-D369AAE406D4}" srcOrd="0" destOrd="0" presId="urn:microsoft.com/office/officeart/2008/layout/RadialCluster"/>
    <dgm:cxn modelId="{4509940C-561A-4319-9690-BC011C19A2EF}" srcId="{0E4E4F75-0FBB-4B42-AE2A-425D785B5E25}" destId="{AF9D71C6-F3F8-4EE4-8C78-B13A3AAAB0E8}" srcOrd="1" destOrd="0" parTransId="{084621F8-B957-4D47-9BB1-CC1E0237FD08}" sibTransId="{818938F6-CABC-4B05-B582-2E9A2FDF9071}"/>
    <dgm:cxn modelId="{8E2D482C-99E2-451E-8527-B24887C42511}" srcId="{DDBF50E7-8F2B-4845-B4CF-2ED864FD37D2}" destId="{454C5343-2C09-48B8-987E-F705199280A2}" srcOrd="2" destOrd="0" parTransId="{9E37F045-4333-412B-AFB4-C5985CA3B185}" sibTransId="{61E7B78B-5321-4001-B389-3F04FFD80132}"/>
    <dgm:cxn modelId="{9E1D331B-64CD-4529-849F-75F23EB9C93B}" type="presOf" srcId="{3D691E04-9678-4F3B-8D67-10D2789AB857}" destId="{20203920-1B44-4C5C-B600-F3F2F2BD08BE}" srcOrd="0" destOrd="0" presId="urn:microsoft.com/office/officeart/2008/layout/RadialCluster"/>
    <dgm:cxn modelId="{14EEA984-ED9D-4E58-B8C8-8C035F8174DA}" type="presOf" srcId="{42CEEC0A-AD4A-443C-9BF0-4BCC2F974A9D}" destId="{6198E825-1E13-4053-AFA5-0B38253347A5}" srcOrd="0" destOrd="0" presId="urn:microsoft.com/office/officeart/2008/layout/RadialCluster"/>
    <dgm:cxn modelId="{CBF79B9E-2480-4CA1-ABE8-7CE06B1507CB}" srcId="{DDBF50E7-8F2B-4845-B4CF-2ED864FD37D2}" destId="{3D691E04-9678-4F3B-8D67-10D2789AB857}" srcOrd="3" destOrd="0" parTransId="{538308BB-388F-4F80-BC88-D5E0CC600801}" sibTransId="{CB43A188-E16E-44C1-B492-144F0875C6A0}"/>
    <dgm:cxn modelId="{3742F183-A8E2-4CAA-AACC-C9BE05361FA8}" type="presOf" srcId="{F459635C-31C1-446F-B5E1-A5CFC654452C}" destId="{B59915D5-6FA3-4352-BD30-55EA4141CCFE}" srcOrd="0" destOrd="0" presId="urn:microsoft.com/office/officeart/2008/layout/RadialCluster"/>
    <dgm:cxn modelId="{C2C32034-620C-450C-8BFE-DAF48DDE9038}" type="presOf" srcId="{538308BB-388F-4F80-BC88-D5E0CC600801}" destId="{04B1B68B-1456-49C5-8D8E-5343C4F99274}" srcOrd="0" destOrd="0" presId="urn:microsoft.com/office/officeart/2008/layout/RadialCluster"/>
    <dgm:cxn modelId="{A7FD889C-9856-42FB-A7F0-9D8702C25D72}" type="presOf" srcId="{BD8D836A-8963-4845-8CE0-D5822273F7CB}" destId="{D767BB44-50DD-41F5-8184-18BB65B60943}" srcOrd="0" destOrd="0" presId="urn:microsoft.com/office/officeart/2008/layout/RadialCluster"/>
    <dgm:cxn modelId="{D2A5F98A-4033-4566-82DF-A73CF3B73162}" type="presOf" srcId="{DDBF50E7-8F2B-4845-B4CF-2ED864FD37D2}" destId="{A2DBBDAF-992D-4018-89CD-31982D1830A8}" srcOrd="0" destOrd="0" presId="urn:microsoft.com/office/officeart/2008/layout/RadialCluster"/>
    <dgm:cxn modelId="{25153AC4-B992-45F8-8FFC-34F003211AAD}" type="presOf" srcId="{ABCB00D9-D5EB-4FA9-AC07-0100A516D99E}" destId="{DA4DD503-3F32-4029-B327-192C285B417B}" srcOrd="0" destOrd="0" presId="urn:microsoft.com/office/officeart/2008/layout/RadialCluster"/>
    <dgm:cxn modelId="{FEB5C541-59A3-4EF6-913B-FC8DC4877076}" srcId="{DDBF50E7-8F2B-4845-B4CF-2ED864FD37D2}" destId="{12488BB3-0D80-41E3-8556-C1224830A0EF}" srcOrd="1" destOrd="0" parTransId="{F459635C-31C1-446F-B5E1-A5CFC654452C}" sibTransId="{22946609-2356-425F-BD3C-AF0205BD3205}"/>
    <dgm:cxn modelId="{B1B5AA17-7A3C-470F-9A87-5D7394172BAE}" type="presParOf" srcId="{82C7472A-A5DD-42BC-A6A5-95FCCE513FC0}" destId="{64099900-B9EB-474D-BD95-567AB61DF8C4}" srcOrd="0" destOrd="0" presId="urn:microsoft.com/office/officeart/2008/layout/RadialCluster"/>
    <dgm:cxn modelId="{75B12130-60E2-48A3-A5D8-0BC70A50C178}" type="presParOf" srcId="{64099900-B9EB-474D-BD95-567AB61DF8C4}" destId="{A2DBBDAF-992D-4018-89CD-31982D1830A8}" srcOrd="0" destOrd="0" presId="urn:microsoft.com/office/officeart/2008/layout/RadialCluster"/>
    <dgm:cxn modelId="{72A3C772-E912-4977-9CF1-577EE2316587}" type="presParOf" srcId="{64099900-B9EB-474D-BD95-567AB61DF8C4}" destId="{D767BB44-50DD-41F5-8184-18BB65B60943}" srcOrd="1" destOrd="0" presId="urn:microsoft.com/office/officeart/2008/layout/RadialCluster"/>
    <dgm:cxn modelId="{E2956A9B-8D63-4A63-AD44-D271D97BF7CC}" type="presParOf" srcId="{64099900-B9EB-474D-BD95-567AB61DF8C4}" destId="{2512408B-4E38-45F8-8C42-7CDE3C4FF768}" srcOrd="2" destOrd="0" presId="urn:microsoft.com/office/officeart/2008/layout/RadialCluster"/>
    <dgm:cxn modelId="{D7154807-488B-45F2-92DB-9E1C16FA9218}" type="presParOf" srcId="{64099900-B9EB-474D-BD95-567AB61DF8C4}" destId="{B59915D5-6FA3-4352-BD30-55EA4141CCFE}" srcOrd="3" destOrd="0" presId="urn:microsoft.com/office/officeart/2008/layout/RadialCluster"/>
    <dgm:cxn modelId="{EBF5F182-07CA-41A2-81C8-A7FA505601C8}" type="presParOf" srcId="{64099900-B9EB-474D-BD95-567AB61DF8C4}" destId="{F0965751-2919-4603-935F-D369AAE406D4}" srcOrd="4" destOrd="0" presId="urn:microsoft.com/office/officeart/2008/layout/RadialCluster"/>
    <dgm:cxn modelId="{1B12123E-AF07-405F-9F4B-3B28B8AD3AC9}" type="presParOf" srcId="{64099900-B9EB-474D-BD95-567AB61DF8C4}" destId="{F9EA70A1-2F9A-4E00-93AC-F0FDE96728D5}" srcOrd="5" destOrd="0" presId="urn:microsoft.com/office/officeart/2008/layout/RadialCluster"/>
    <dgm:cxn modelId="{43ABF53F-9400-44CC-9FE1-66B7B4F84763}" type="presParOf" srcId="{64099900-B9EB-474D-BD95-567AB61DF8C4}" destId="{B3CD52CE-7A8A-45AB-98C3-3863831D798A}" srcOrd="6" destOrd="0" presId="urn:microsoft.com/office/officeart/2008/layout/RadialCluster"/>
    <dgm:cxn modelId="{9773A721-EABB-4D36-B057-99588B967331}" type="presParOf" srcId="{64099900-B9EB-474D-BD95-567AB61DF8C4}" destId="{04B1B68B-1456-49C5-8D8E-5343C4F99274}" srcOrd="7" destOrd="0" presId="urn:microsoft.com/office/officeart/2008/layout/RadialCluster"/>
    <dgm:cxn modelId="{2D032414-39A6-4861-8CE7-342C58770DF1}" type="presParOf" srcId="{64099900-B9EB-474D-BD95-567AB61DF8C4}" destId="{20203920-1B44-4C5C-B600-F3F2F2BD08BE}" srcOrd="8" destOrd="0" presId="urn:microsoft.com/office/officeart/2008/layout/RadialCluster"/>
    <dgm:cxn modelId="{37A1182C-4960-4C85-B111-6C3C125673B4}" type="presParOf" srcId="{64099900-B9EB-474D-BD95-567AB61DF8C4}" destId="{6198E825-1E13-4053-AFA5-0B38253347A5}" srcOrd="9" destOrd="0" presId="urn:microsoft.com/office/officeart/2008/layout/RadialCluster"/>
    <dgm:cxn modelId="{763F10FC-DE2F-4D33-BB06-6026D78D5EFD}" type="presParOf" srcId="{64099900-B9EB-474D-BD95-567AB61DF8C4}" destId="{DA4DD503-3F32-4029-B327-192C285B417B}" srcOrd="1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BBDAF-992D-4018-89CD-31982D1830A8}">
      <dsp:nvSpPr>
        <dsp:cNvPr id="0" name=""/>
        <dsp:cNvSpPr/>
      </dsp:nvSpPr>
      <dsp:spPr>
        <a:xfrm>
          <a:off x="3357917" y="2283604"/>
          <a:ext cx="1756173" cy="1756173"/>
        </a:xfrm>
        <a:prstGeom prst="roundRect">
          <a:avLst/>
        </a:prstGeom>
        <a:solidFill>
          <a:schemeClr val="bg1"/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 smtClean="0">
              <a:solidFill>
                <a:schemeClr val="tx1"/>
              </a:solidFill>
              <a:latin typeface="+mn-lt"/>
            </a:rPr>
            <a:t>Project </a:t>
          </a:r>
          <a:r>
            <a:rPr lang="en-GB" sz="1400" b="1" kern="1200" dirty="0" err="1" smtClean="0">
              <a:solidFill>
                <a:schemeClr val="tx1"/>
              </a:solidFill>
              <a:latin typeface="+mn-lt"/>
            </a:rPr>
            <a:t>PetHub</a:t>
          </a:r>
          <a:r>
            <a:rPr lang="en-GB" sz="1400" b="1" kern="1200" dirty="0" smtClean="0">
              <a:solidFill>
                <a:schemeClr val="tx1"/>
              </a:solidFill>
              <a:latin typeface="+mn-lt"/>
            </a:rPr>
            <a:t> </a:t>
          </a:r>
          <a:r>
            <a:rPr lang="en-GB" sz="1400" kern="1200" dirty="0" smtClean="0">
              <a:solidFill>
                <a:schemeClr val="tx1"/>
              </a:solidFill>
              <a:latin typeface="+mn-lt"/>
            </a:rPr>
            <a:t>Woo Commerce Website</a:t>
          </a:r>
          <a:endParaRPr lang="en-GB" sz="1400" kern="1200" dirty="0">
            <a:solidFill>
              <a:schemeClr val="tx1"/>
            </a:solidFill>
            <a:latin typeface="+mn-lt"/>
          </a:endParaRPr>
        </a:p>
      </dsp:txBody>
      <dsp:txXfrm>
        <a:off x="3443646" y="2369333"/>
        <a:ext cx="1584715" cy="1584715"/>
      </dsp:txXfrm>
    </dsp:sp>
    <dsp:sp modelId="{D767BB44-50DD-41F5-8184-18BB65B60943}">
      <dsp:nvSpPr>
        <dsp:cNvPr id="0" name=""/>
        <dsp:cNvSpPr/>
      </dsp:nvSpPr>
      <dsp:spPr>
        <a:xfrm rot="16200000">
          <a:off x="3740113" y="1787714"/>
          <a:ext cx="99178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91780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12408B-4E38-45F8-8C42-7CDE3C4FF768}">
      <dsp:nvSpPr>
        <dsp:cNvPr id="0" name=""/>
        <dsp:cNvSpPr/>
      </dsp:nvSpPr>
      <dsp:spPr>
        <a:xfrm>
          <a:off x="3647685" y="115187"/>
          <a:ext cx="1176635" cy="117663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 smtClean="0">
              <a:latin typeface="+mn-lt"/>
            </a:rPr>
            <a:t>E-Commerce Core</a:t>
          </a:r>
          <a:endParaRPr lang="en-GB" sz="1200" kern="1200" dirty="0">
            <a:latin typeface="+mn-lt"/>
          </a:endParaRPr>
        </a:p>
      </dsp:txBody>
      <dsp:txXfrm>
        <a:off x="3705124" y="172626"/>
        <a:ext cx="1061757" cy="1061757"/>
      </dsp:txXfrm>
    </dsp:sp>
    <dsp:sp modelId="{B59915D5-6FA3-4352-BD30-55EA4141CCFE}">
      <dsp:nvSpPr>
        <dsp:cNvPr id="0" name=""/>
        <dsp:cNvSpPr/>
      </dsp:nvSpPr>
      <dsp:spPr>
        <a:xfrm rot="20520000">
          <a:off x="5091666" y="2734804"/>
          <a:ext cx="91631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16315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965751-2919-4603-935F-D369AAE406D4}">
      <dsp:nvSpPr>
        <dsp:cNvPr id="0" name=""/>
        <dsp:cNvSpPr/>
      </dsp:nvSpPr>
      <dsp:spPr>
        <a:xfrm>
          <a:off x="5985558" y="1813751"/>
          <a:ext cx="1176635" cy="1176635"/>
        </a:xfrm>
        <a:prstGeom prst="roundRect">
          <a:avLst/>
        </a:prstGeom>
        <a:solidFill>
          <a:schemeClr val="accent5">
            <a:lumMod val="40000"/>
            <a:lumOff val="6000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 smtClean="0">
              <a:latin typeface="+mn-lt"/>
            </a:rPr>
            <a:t>Customer Experience &amp; Login</a:t>
          </a:r>
          <a:endParaRPr lang="en-GB" sz="1200" kern="1200" dirty="0">
            <a:latin typeface="+mn-lt"/>
          </a:endParaRPr>
        </a:p>
      </dsp:txBody>
      <dsp:txXfrm>
        <a:off x="6042997" y="1871190"/>
        <a:ext cx="1061757" cy="1061757"/>
      </dsp:txXfrm>
    </dsp:sp>
    <dsp:sp modelId="{F9EA70A1-2F9A-4E00-93AC-F0FDE96728D5}">
      <dsp:nvSpPr>
        <dsp:cNvPr id="0" name=""/>
        <dsp:cNvSpPr/>
      </dsp:nvSpPr>
      <dsp:spPr>
        <a:xfrm rot="3240000">
          <a:off x="4740905" y="4300931"/>
          <a:ext cx="64560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5609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CD52CE-7A8A-45AB-98C3-3863831D798A}">
      <dsp:nvSpPr>
        <dsp:cNvPr id="0" name=""/>
        <dsp:cNvSpPr/>
      </dsp:nvSpPr>
      <dsp:spPr>
        <a:xfrm>
          <a:off x="5092570" y="4562086"/>
          <a:ext cx="1176635" cy="1176635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 smtClean="0">
              <a:latin typeface="+mn-lt"/>
            </a:rPr>
            <a:t>Booking &amp; Appointment</a:t>
          </a:r>
          <a:endParaRPr lang="en-GB" sz="1200" kern="1200" dirty="0">
            <a:latin typeface="+mn-lt"/>
          </a:endParaRPr>
        </a:p>
      </dsp:txBody>
      <dsp:txXfrm>
        <a:off x="5150009" y="4619525"/>
        <a:ext cx="1061757" cy="1061757"/>
      </dsp:txXfrm>
    </dsp:sp>
    <dsp:sp modelId="{04B1B68B-1456-49C5-8D8E-5343C4F99274}">
      <dsp:nvSpPr>
        <dsp:cNvPr id="0" name=""/>
        <dsp:cNvSpPr/>
      </dsp:nvSpPr>
      <dsp:spPr>
        <a:xfrm rot="7560000">
          <a:off x="3085491" y="4300931"/>
          <a:ext cx="64560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5609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203920-1B44-4C5C-B600-F3F2F2BD08BE}">
      <dsp:nvSpPr>
        <dsp:cNvPr id="0" name=""/>
        <dsp:cNvSpPr/>
      </dsp:nvSpPr>
      <dsp:spPr>
        <a:xfrm>
          <a:off x="2202800" y="4562086"/>
          <a:ext cx="1176635" cy="1176635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 smtClean="0">
              <a:latin typeface="+mn-lt"/>
            </a:rPr>
            <a:t>Content &amp; Engagement</a:t>
          </a:r>
          <a:endParaRPr lang="en-GB" sz="1200" kern="1200" dirty="0">
            <a:latin typeface="+mn-lt"/>
          </a:endParaRPr>
        </a:p>
      </dsp:txBody>
      <dsp:txXfrm>
        <a:off x="2260239" y="4619525"/>
        <a:ext cx="1061757" cy="1061757"/>
      </dsp:txXfrm>
    </dsp:sp>
    <dsp:sp modelId="{6198E825-1E13-4053-AFA5-0B38253347A5}">
      <dsp:nvSpPr>
        <dsp:cNvPr id="0" name=""/>
        <dsp:cNvSpPr/>
      </dsp:nvSpPr>
      <dsp:spPr>
        <a:xfrm rot="11880000">
          <a:off x="2464024" y="2734804"/>
          <a:ext cx="91631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16315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4DD503-3F32-4029-B327-192C285B417B}">
      <dsp:nvSpPr>
        <dsp:cNvPr id="0" name=""/>
        <dsp:cNvSpPr/>
      </dsp:nvSpPr>
      <dsp:spPr>
        <a:xfrm>
          <a:off x="1309812" y="1813751"/>
          <a:ext cx="1176635" cy="1176635"/>
        </a:xfrm>
        <a:prstGeom prst="roundRect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 smtClean="0">
              <a:latin typeface="+mn-lt"/>
            </a:rPr>
            <a:t>Platform infrastructure &amp; Admin</a:t>
          </a:r>
          <a:endParaRPr lang="en-GB" sz="1200" kern="1200" dirty="0">
            <a:latin typeface="+mn-lt"/>
          </a:endParaRPr>
        </a:p>
      </dsp:txBody>
      <dsp:txXfrm>
        <a:off x="1367251" y="1871190"/>
        <a:ext cx="1061757" cy="1061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aola@tritekacademy.co.u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763122C-732C-46F9-8481-25632EC94D15}"/>
              </a:ext>
            </a:extLst>
          </p:cNvPr>
          <p:cNvSpPr txBox="1"/>
          <p:nvPr/>
        </p:nvSpPr>
        <p:spPr>
          <a:xfrm>
            <a:off x="6981372" y="6072415"/>
            <a:ext cx="5065486" cy="40011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www.tritekconsulting.co.uk</a:t>
            </a: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7AA10331-7758-4FED-9BC8-A3E97B14CD20}"/>
              </a:ext>
            </a:extLst>
          </p:cNvPr>
          <p:cNvSpPr txBox="1">
            <a:spLocks/>
          </p:cNvSpPr>
          <p:nvPr/>
        </p:nvSpPr>
        <p:spPr>
          <a:xfrm>
            <a:off x="2905600" y="1802247"/>
            <a:ext cx="6380799" cy="110875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5400" b="1" dirty="0">
                <a:solidFill>
                  <a:schemeClr val="bg1"/>
                </a:solidFill>
              </a:rPr>
              <a:t>Project </a:t>
            </a:r>
            <a:r>
              <a:rPr lang="en-GB" sz="5400" b="1" dirty="0" smtClean="0">
                <a:solidFill>
                  <a:schemeClr val="bg1"/>
                </a:solidFill>
              </a:rPr>
              <a:t>PETHUB</a:t>
            </a:r>
            <a:endParaRPr lang="en-GB" sz="54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46508" y="2854640"/>
            <a:ext cx="9142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Project Title: </a:t>
            </a:r>
            <a:r>
              <a:rPr lang="en-GB" sz="2000" b="1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Woo Commerce </a:t>
            </a:r>
            <a:r>
              <a:rPr lang="en-GB" sz="20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Pet Store &amp; Vet Appointment Site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1776" y="3468499"/>
            <a:ext cx="4888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Features Presentation</a:t>
            </a:r>
          </a:p>
        </p:txBody>
      </p:sp>
    </p:spTree>
    <p:extLst>
      <p:ext uri="{BB962C8B-B14F-4D97-AF65-F5344CB8AC3E}">
        <p14:creationId xmlns:p14="http://schemas.microsoft.com/office/powerpoint/2010/main" val="816173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7E7C67C-F7D4-4ABE-BB0C-D2A270AB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746" y="297315"/>
            <a:ext cx="3335822" cy="820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1742E20-057F-43C8-90D7-FF23E53C35B7}"/>
              </a:ext>
            </a:extLst>
          </p:cNvPr>
          <p:cNvSpPr txBox="1"/>
          <p:nvPr/>
        </p:nvSpPr>
        <p:spPr>
          <a:xfrm>
            <a:off x="2200496" y="1046643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</a:rPr>
              <a:t>Project Mandate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E048BEC8-40AE-D3B8-AEBF-ABD7F46FD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731875"/>
              </p:ext>
            </p:extLst>
          </p:nvPr>
        </p:nvGraphicFramePr>
        <p:xfrm>
          <a:off x="1688078" y="2189705"/>
          <a:ext cx="8128000" cy="2372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22023">
                  <a:extLst>
                    <a:ext uri="{9D8B030D-6E8A-4147-A177-3AD203B41FA5}">
                      <a16:colId xmlns="" xmlns:a16="http://schemas.microsoft.com/office/drawing/2014/main" val="3514039855"/>
                    </a:ext>
                  </a:extLst>
                </a:gridCol>
                <a:gridCol w="6105977">
                  <a:extLst>
                    <a:ext uri="{9D8B030D-6E8A-4147-A177-3AD203B41FA5}">
                      <a16:colId xmlns="" xmlns:a16="http://schemas.microsoft.com/office/drawing/2014/main" val="2266037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PROJECT TYPE: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Digital Product Development Project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38430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Project Aim: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e-commerce site for pet stores combined with vet appointment scheduling.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87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Start Date: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4th January 2026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13554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Timeline: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weeks 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9040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End Date: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 March 2026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7400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Client: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Maola</a:t>
                      </a:r>
                      <a:r>
                        <a:rPr lang="en-GB" dirty="0" smtClean="0"/>
                        <a:t> </a:t>
                      </a:r>
                      <a:r>
                        <a:rPr lang="en-GB" dirty="0" err="1" smtClean="0"/>
                        <a:t>Rabana</a:t>
                      </a:r>
                      <a:r>
                        <a:rPr lang="en-GB" dirty="0" smtClean="0"/>
                        <a:t>; </a:t>
                      </a:r>
                      <a:r>
                        <a:rPr lang="en-GB" sz="1800" b="0" i="0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maola@tritekacademy.co.uk</a:t>
                      </a:r>
                      <a:r>
                        <a:rPr lang="en-GB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73130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40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2">
            <a:extLst>
              <a:ext uri="{FF2B5EF4-FFF2-40B4-BE49-F238E27FC236}">
                <a16:creationId xmlns="" xmlns:a16="http://schemas.microsoft.com/office/drawing/2014/main" id="{C685026B-3B76-4F13-9EF3-3F2296AD9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013968"/>
              </p:ext>
            </p:extLst>
          </p:nvPr>
        </p:nvGraphicFramePr>
        <p:xfrm>
          <a:off x="831166" y="898857"/>
          <a:ext cx="7722630" cy="558507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22690">
                  <a:extLst>
                    <a:ext uri="{9D8B030D-6E8A-4147-A177-3AD203B41FA5}">
                      <a16:colId xmlns="" xmlns:a16="http://schemas.microsoft.com/office/drawing/2014/main" val="2828921001"/>
                    </a:ext>
                  </a:extLst>
                </a:gridCol>
                <a:gridCol w="5899940">
                  <a:extLst>
                    <a:ext uri="{9D8B030D-6E8A-4147-A177-3AD203B41FA5}">
                      <a16:colId xmlns="" xmlns:a16="http://schemas.microsoft.com/office/drawing/2014/main" val="2565861507"/>
                    </a:ext>
                  </a:extLst>
                </a:gridCol>
              </a:tblGrid>
              <a:tr h="396363">
                <a:tc>
                  <a:txBody>
                    <a:bodyPr/>
                    <a:lstStyle/>
                    <a:p>
                      <a:r>
                        <a:rPr lang="en-GB" sz="1400" dirty="0"/>
                        <a:t>Feature ID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Feature Name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86816354"/>
                  </a:ext>
                </a:extLst>
              </a:tr>
              <a:tr h="300826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F001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 smtClean="0"/>
                        <a:t>WooCommerce</a:t>
                      </a:r>
                      <a:r>
                        <a:rPr lang="en-GB" sz="1400" dirty="0" smtClean="0"/>
                        <a:t> Platform Setup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07456934"/>
                  </a:ext>
                </a:extLst>
              </a:tr>
              <a:tr h="311910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F002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Product Catalogue Setup &amp; Categorisation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36272149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F003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Product Search &amp; Filtering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44838110"/>
                  </a:ext>
                </a:extLst>
              </a:tr>
              <a:tr h="302029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F004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Shopping Cart &amp; Checkout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4394874"/>
                  </a:ext>
                </a:extLst>
              </a:tr>
              <a:tr h="302029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F005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Customer Registration &amp; Login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F006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Customer Account Dashboard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08852104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F007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Vet Appointment Booking System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51142528"/>
                  </a:ext>
                </a:extLst>
              </a:tr>
              <a:tr h="302029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F008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Appointment Calendar &amp; Time Slot Management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05968848"/>
                  </a:ext>
                </a:extLst>
              </a:tr>
              <a:tr h="271549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F009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Booking Confirmation &amp; Email Notifications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F010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Loyalty Programme Integration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3716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F011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Coupon &amp; Discount Management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63236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F012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Blog Setup, Categorisation, &amp; Content Publishing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263236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F013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Order &amp; Inventory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dirty="0" smtClean="0"/>
                        <a:t>Management (Admin)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63236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F014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Payment Gateway Configuration (Standard </a:t>
                      </a:r>
                      <a:r>
                        <a:rPr lang="en-GB" sz="1400" dirty="0" err="1" smtClean="0"/>
                        <a:t>WooCommerce</a:t>
                      </a:r>
                      <a:r>
                        <a:rPr lang="en-GB" sz="1400" dirty="0" smtClean="0"/>
                        <a:t>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63236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F015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Mobile‑Responsive Theme Setup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63236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F016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Analytics &amp; Reporting Dashboard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63236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F017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User Roles &amp; Permissions Setup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9914DB4-8B01-A048-B8AF-4D836490A2F4}"/>
              </a:ext>
            </a:extLst>
          </p:cNvPr>
          <p:cNvSpPr txBox="1"/>
          <p:nvPr/>
        </p:nvSpPr>
        <p:spPr>
          <a:xfrm>
            <a:off x="750179" y="303951"/>
            <a:ext cx="5497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FEATURES LIST</a:t>
            </a:r>
          </a:p>
        </p:txBody>
      </p:sp>
    </p:spTree>
    <p:extLst>
      <p:ext uri="{BB962C8B-B14F-4D97-AF65-F5344CB8AC3E}">
        <p14:creationId xmlns:p14="http://schemas.microsoft.com/office/powerpoint/2010/main" val="304011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7E7C67C-F7D4-4ABE-BB0C-D2A270AB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746" y="297315"/>
            <a:ext cx="3335822" cy="820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1742E20-057F-43C8-90D7-FF23E53C35B7}"/>
              </a:ext>
            </a:extLst>
          </p:cNvPr>
          <p:cNvSpPr txBox="1"/>
          <p:nvPr/>
        </p:nvSpPr>
        <p:spPr>
          <a:xfrm>
            <a:off x="490660" y="242748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FEATURE MAP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="" xmlns:a16="http://schemas.microsoft.com/office/drawing/2014/main" id="{0FBF18BD-06A8-5337-7CD0-1C94473F08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7933521"/>
              </p:ext>
            </p:extLst>
          </p:nvPr>
        </p:nvGraphicFramePr>
        <p:xfrm>
          <a:off x="2102656" y="813772"/>
          <a:ext cx="8472007" cy="5853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889752E-1C26-B45D-D2BD-E1EE513D589F}"/>
              </a:ext>
            </a:extLst>
          </p:cNvPr>
          <p:cNvSpPr txBox="1"/>
          <p:nvPr/>
        </p:nvSpPr>
        <p:spPr>
          <a:xfrm>
            <a:off x="490660" y="943871"/>
            <a:ext cx="38319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chemeClr val="bg1"/>
                </a:solidFill>
              </a:rPr>
              <a:t>This shows </a:t>
            </a:r>
            <a:r>
              <a:rPr lang="en-GB" sz="1400" dirty="0">
                <a:solidFill>
                  <a:schemeClr val="bg1"/>
                </a:solidFill>
              </a:rPr>
              <a:t>how the product breaks down into major functional areas (Feature Groups) and the individual features inside each group. It’s the bridge between </a:t>
            </a:r>
            <a:r>
              <a:rPr lang="en-GB" sz="1400" dirty="0" smtClean="0">
                <a:solidFill>
                  <a:schemeClr val="bg1"/>
                </a:solidFill>
              </a:rPr>
              <a:t>the </a:t>
            </a:r>
            <a:r>
              <a:rPr lang="en-GB" sz="1400" dirty="0">
                <a:solidFill>
                  <a:schemeClr val="bg1"/>
                </a:solidFill>
              </a:rPr>
              <a:t>Business Case, scope, and detailed </a:t>
            </a:r>
            <a:r>
              <a:rPr lang="en-GB" sz="1400" dirty="0" smtClean="0">
                <a:solidFill>
                  <a:schemeClr val="bg1"/>
                </a:solidFill>
              </a:rPr>
              <a:t>requirements</a:t>
            </a:r>
            <a:r>
              <a:rPr lang="en-GB" sz="1400" i="1" dirty="0">
                <a:solidFill>
                  <a:schemeClr val="bg1"/>
                </a:solidFill>
              </a:rPr>
              <a:t>.</a:t>
            </a:r>
            <a:endParaRPr lang="en-GB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68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476633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771774"/>
              </p:ext>
            </p:extLst>
          </p:nvPr>
        </p:nvGraphicFramePr>
        <p:xfrm>
          <a:off x="2419004" y="1776256"/>
          <a:ext cx="8506641" cy="2032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506641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F001 - </a:t>
                      </a:r>
                      <a:r>
                        <a:rPr lang="en-GB" b="0" dirty="0" err="1" smtClean="0"/>
                        <a:t>WooCommerce</a:t>
                      </a:r>
                      <a:r>
                        <a:rPr lang="en-GB" b="0" dirty="0" smtClean="0"/>
                        <a:t> Platform Setup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Installation and configuration of </a:t>
                      </a:r>
                      <a:r>
                        <a:rPr lang="en-GB" sz="1200" dirty="0" err="1" smtClean="0"/>
                        <a:t>WooCommerce</a:t>
                      </a:r>
                      <a:r>
                        <a:rPr lang="en-GB" sz="1200" dirty="0" smtClean="0"/>
                        <a:t> as the core e‑commerce engine for </a:t>
                      </a:r>
                      <a:r>
                        <a:rPr lang="en-GB" sz="1200" dirty="0" err="1" smtClean="0"/>
                        <a:t>PetHub</a:t>
                      </a:r>
                      <a:r>
                        <a:rPr lang="en-GB" sz="1200" dirty="0" smtClean="0"/>
                        <a:t>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Provides the foundational structure for products, checkout, orders, payments, and customer accounts.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Platform uptime, Page load speed, Successful plugin integrations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Must‑Have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757" y="1435404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592762"/>
              </p:ext>
            </p:extLst>
          </p:nvPr>
        </p:nvGraphicFramePr>
        <p:xfrm>
          <a:off x="2419004" y="3995751"/>
          <a:ext cx="8498330" cy="2209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98330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ID: F002 - </a:t>
                      </a:r>
                      <a:r>
                        <a:rPr lang="en-GB" sz="1800" b="0" dirty="0" smtClean="0"/>
                        <a:t>Product Catalogue Setup &amp; Categorisation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Woo Commerce’s built‑in cart functionality enabling item selection.</a:t>
                      </a:r>
                      <a:r>
                        <a:rPr lang="en-GB" sz="1200" baseline="0" dirty="0" smtClean="0"/>
                        <a:t> </a:t>
                      </a:r>
                      <a:r>
                        <a:rPr lang="en-GB" sz="1200" dirty="0" smtClean="0"/>
                        <a:t>Standard Woo Commerce cart page allowing quantity updates and item removal.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Admin can add, edit, and manage products; customers can browse all available items in a clean, organised layout.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KPI: </a:t>
                      </a:r>
                      <a:r>
                        <a:rPr lang="en-GB" sz="1200" dirty="0" smtClean="0"/>
                        <a:t>Number of active products, Catalogue completeness score, Product page views.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Must‑Have</a:t>
                      </a:r>
                      <a:endParaRPr lang="en-GB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51760" y="1064029"/>
            <a:ext cx="609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E-Commerce Core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04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609636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493417"/>
              </p:ext>
            </p:extLst>
          </p:nvPr>
        </p:nvGraphicFramePr>
        <p:xfrm>
          <a:off x="2277687" y="1826133"/>
          <a:ext cx="864795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64795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F003 - </a:t>
                      </a:r>
                      <a:r>
                        <a:rPr lang="en-GB" b="0" dirty="0" smtClean="0"/>
                        <a:t>Product Search &amp; Filtering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err="1" smtClean="0"/>
                        <a:t>WooCommerce</a:t>
                      </a:r>
                      <a:r>
                        <a:rPr lang="en-GB" sz="1200" dirty="0" smtClean="0"/>
                        <a:t> search and filter widgets enabling keyword search and attribute‑based filtering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Customers can quickly find products using search terms or refine results using filters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Search‑to‑product‑view conversion, Filter usage rate, Zero‑result searches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Must‑Have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757" y="1435404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500939"/>
              </p:ext>
            </p:extLst>
          </p:nvPr>
        </p:nvGraphicFramePr>
        <p:xfrm>
          <a:off x="2277687" y="3995751"/>
          <a:ext cx="8639647" cy="238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639647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F004 – </a:t>
                      </a:r>
                      <a:r>
                        <a:rPr lang="en-GB" sz="1800" b="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Add</a:t>
                      </a:r>
                      <a:r>
                        <a:rPr lang="en-GB" sz="1800" b="0" baseline="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 to cart, </a:t>
                      </a:r>
                      <a:r>
                        <a:rPr lang="en-GB" sz="1800" b="0" dirty="0" smtClean="0"/>
                        <a:t>Shopping Cart &amp; Checkout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Woo Commerce’s built‑in cart functionality enabling item selection.</a:t>
                      </a:r>
                      <a:r>
                        <a:rPr lang="en-GB" sz="1200" baseline="0" dirty="0" smtClean="0"/>
                        <a:t> </a:t>
                      </a:r>
                      <a:r>
                        <a:rPr lang="en-GB" sz="1200" dirty="0" smtClean="0"/>
                        <a:t>Standard Woo Commerce cart page allowing quantity updates and item removal.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Customers can add products to their cart from listings or product pages. Customers can review, update, or remove items before checkout.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Cart review completion rate, Cart abandonment rate, Average order value, Cart additions per session Cart‑to‑checkout conversion.</a:t>
                      </a:r>
                      <a:endParaRPr lang="en-GB" sz="1800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Must‑Have</a:t>
                      </a:r>
                      <a:endParaRPr lang="en-GB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51760" y="1047405"/>
            <a:ext cx="609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E-Commerce Core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46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476633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658090"/>
              </p:ext>
            </p:extLst>
          </p:nvPr>
        </p:nvGraphicFramePr>
        <p:xfrm>
          <a:off x="2518756" y="1851072"/>
          <a:ext cx="8406892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06892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F005 - </a:t>
                      </a:r>
                      <a:r>
                        <a:rPr lang="en-GB" b="0" dirty="0" smtClean="0"/>
                        <a:t>Customer Registration &amp; Login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Woo Commerce customer account system enabling secure registration and login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Customers create accounts, log in, and access personalised features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New account registrations, Login success rate, Returning customer rate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Must‑Have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757" y="1294088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42767"/>
              </p:ext>
            </p:extLst>
          </p:nvPr>
        </p:nvGraphicFramePr>
        <p:xfrm>
          <a:off x="2518756" y="3995751"/>
          <a:ext cx="839857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39857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F006 – </a:t>
                      </a:r>
                      <a:r>
                        <a:rPr lang="en-GB" b="0" dirty="0" smtClean="0"/>
                        <a:t>Customer Account Dashboard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Woo Commerce My Account dashboard with order history, profile details, and booking history.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Customers can view past orders, manage details, and track bookings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Dashboard visits Profile update frequency, Repeat purchase rate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800" b="1" i="0" u="none" strike="noStrike" cap="none" dirty="0" err="1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Msut</a:t>
                      </a:r>
                      <a:r>
                        <a:rPr lang="en-GB" sz="1800" b="1" i="0" u="none" strike="noStrike" cap="none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i="0" u="none" strike="noStrike" cap="none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Must-Have</a:t>
                      </a:r>
                      <a:r>
                        <a:rPr lang="en-GB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,</a:t>
                      </a:r>
                      <a:r>
                        <a:rPr lang="en-GB" sz="12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 </a:t>
                      </a:r>
                      <a:r>
                        <a:rPr lang="en-GB" sz="1200" b="0" dirty="0" smtClean="0"/>
                        <a:t>Should‑Have</a:t>
                      </a:r>
                      <a:endParaRPr lang="en-GB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26821" y="914402"/>
            <a:ext cx="609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Customer Experience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3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842394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65757" y="1493595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72045"/>
              </p:ext>
            </p:extLst>
          </p:nvPr>
        </p:nvGraphicFramePr>
        <p:xfrm>
          <a:off x="2643447" y="4019515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F010 – </a:t>
                      </a:r>
                      <a:r>
                        <a:rPr lang="en-GB" b="0" dirty="0" smtClean="0"/>
                        <a:t>Loyalty Programme Integration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Loyalty plugin integrated with Woo Commerce to award points for purchases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Customers earn points and redeem them for discounts or rewards.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Points earned vs redeemed, Customer retention rate, Repeat purchase frequency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entury Gothic"/>
                        </a:rPr>
                        <a:t>Should</a:t>
                      </a:r>
                      <a:r>
                        <a:rPr lang="en-GB" sz="1200" b="0" dirty="0" smtClean="0"/>
                        <a:t>‑Have</a:t>
                      </a:r>
                      <a:endParaRPr lang="en-GB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85255" y="1088969"/>
            <a:ext cx="663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Customer </a:t>
            </a:r>
            <a:r>
              <a:rPr lang="en-GB" b="1" dirty="0" smtClean="0">
                <a:solidFill>
                  <a:schemeClr val="bg1"/>
                </a:solidFill>
              </a:rPr>
              <a:t>Experience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321147"/>
              </p:ext>
            </p:extLst>
          </p:nvPr>
        </p:nvGraphicFramePr>
        <p:xfrm>
          <a:off x="2651760" y="1921338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F011 - </a:t>
                      </a:r>
                      <a:r>
                        <a:rPr lang="en-GB" b="0" dirty="0" smtClean="0"/>
                        <a:t>Coupon &amp; Discount Management</a:t>
                      </a:r>
                      <a:endParaRPr lang="en-GB" sz="1800" b="0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err="1" smtClean="0"/>
                        <a:t>WooCommerce</a:t>
                      </a:r>
                      <a:r>
                        <a:rPr lang="en-GB" sz="1200" dirty="0" smtClean="0"/>
                        <a:t> coupon engine for creating discount codes and promotions.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Admin creates coupons; customers apply them during checkout.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Coupon usage rate, Promotion‑driven sales, Average discount value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Should‑Have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98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842394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787032"/>
              </p:ext>
            </p:extLst>
          </p:nvPr>
        </p:nvGraphicFramePr>
        <p:xfrm>
          <a:off x="2651760" y="4311162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F008 - </a:t>
                      </a:r>
                      <a:r>
                        <a:rPr lang="en-GB" b="0" dirty="0" smtClean="0"/>
                        <a:t>Appointment Calendar &amp; Time Slot Management</a:t>
                      </a:r>
                      <a:endParaRPr lang="en-GB" sz="1800" b="0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Admin calendar interface for managing availability, time slots, and service durations.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Admin can set available dates/times; customers only see valid slots.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Calendar utilisation rate, Booking accuracy, Admin time saved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Must‑Have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757" y="1493595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43112"/>
              </p:ext>
            </p:extLst>
          </p:nvPr>
        </p:nvGraphicFramePr>
        <p:xfrm>
          <a:off x="2651760" y="1982898"/>
          <a:ext cx="8099318" cy="2032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F007 – </a:t>
                      </a:r>
                      <a:r>
                        <a:rPr lang="en-GB" b="0" dirty="0" smtClean="0"/>
                        <a:t>Vet Appointment Booking System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Booking plugin integrated with Woo Commerce to allow service selection and appointment scheduling.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Customers select a service, choose a date/time, and book appointments online.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Number of bookings, Booking completion rate, No‑show reduction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Must‑Have</a:t>
                      </a:r>
                      <a:endParaRPr lang="en-GB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85255" y="1088969"/>
            <a:ext cx="663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Booking &amp; Appointment </a:t>
            </a:r>
            <a:r>
              <a:rPr lang="en-GB" b="1" dirty="0" smtClean="0">
                <a:solidFill>
                  <a:schemeClr val="bg1"/>
                </a:solidFill>
              </a:rPr>
              <a:t>Features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6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842394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58230"/>
              </p:ext>
            </p:extLst>
          </p:nvPr>
        </p:nvGraphicFramePr>
        <p:xfrm>
          <a:off x="2651760" y="1921338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F009 - </a:t>
                      </a:r>
                      <a:r>
                        <a:rPr lang="en-GB" sz="1800" b="0" dirty="0" smtClean="0"/>
                        <a:t>Booking Confirmation &amp; Email Notifications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err="1" smtClean="0"/>
                        <a:t>WooCommerce</a:t>
                      </a:r>
                      <a:r>
                        <a:rPr lang="en-GB" sz="1200" dirty="0" smtClean="0"/>
                        <a:t> automated email notifications triggered after successful orders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Customers receive instant confirmation with order details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Email delivery rate, Email open rate, Customer satisfaction feedback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dirty="0" smtClean="0"/>
                        <a:t>Must‑Have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757" y="1493595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85255" y="1088969"/>
            <a:ext cx="663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Booking &amp; Appointment </a:t>
            </a:r>
            <a:r>
              <a:rPr lang="en-GB" b="1" dirty="0" smtClean="0">
                <a:solidFill>
                  <a:schemeClr val="bg1"/>
                </a:solidFill>
              </a:rPr>
              <a:t>Features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96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842394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65757" y="1493595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048704"/>
              </p:ext>
            </p:extLst>
          </p:nvPr>
        </p:nvGraphicFramePr>
        <p:xfrm>
          <a:off x="2651760" y="1842394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F012 – </a:t>
                      </a:r>
                      <a:r>
                        <a:rPr lang="en-GB" b="0" dirty="0" smtClean="0"/>
                        <a:t>Blog Setup, Categorisation &amp; Content Publishing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WordPress blog module with categories, tags, and publishing tools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Admin publishes articles; customers read and engage with content.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Blog traffic, Time on page, SEO ranking improvements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entury Gothic"/>
                        </a:rPr>
                        <a:t>Should</a:t>
                      </a:r>
                      <a:r>
                        <a:rPr lang="en-GB" sz="1200" b="0" dirty="0" smtClean="0"/>
                        <a:t>‑Have</a:t>
                      </a:r>
                      <a:endParaRPr lang="en-GB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85255" y="1088969"/>
            <a:ext cx="663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Content Engagement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559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842394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85674"/>
              </p:ext>
            </p:extLst>
          </p:nvPr>
        </p:nvGraphicFramePr>
        <p:xfrm>
          <a:off x="2651760" y="1921338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F013 - </a:t>
                      </a:r>
                      <a:r>
                        <a:rPr lang="en-GB" b="0" dirty="0" smtClean="0"/>
                        <a:t>Order &amp; Inventory Management</a:t>
                      </a:r>
                      <a:endParaRPr lang="en-GB" sz="1800" b="0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err="1" smtClean="0"/>
                        <a:t>WooCommerce</a:t>
                      </a:r>
                      <a:r>
                        <a:rPr lang="en-GB" sz="1200" dirty="0" smtClean="0"/>
                        <a:t> admin tools for tracking orders, updating statuses, and managing stock.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Admin processes orders, updates stock, and manages fulfilment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Order processing time, Stock accuracy, Out‑of‑stock incidents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entury Gothic"/>
                        </a:rPr>
                        <a:t>Must</a:t>
                      </a:r>
                      <a:r>
                        <a:rPr lang="en-GB" sz="1200" b="0" dirty="0" smtClean="0"/>
                        <a:t>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757" y="1493595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435701"/>
              </p:ext>
            </p:extLst>
          </p:nvPr>
        </p:nvGraphicFramePr>
        <p:xfrm>
          <a:off x="2643447" y="4019515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ID: F014 – </a:t>
                      </a:r>
                      <a:r>
                        <a:rPr lang="en-GB" b="0" dirty="0" smtClean="0"/>
                        <a:t> Payment Gateway Configuration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Integration of supported payment gateways (Stripe, PayPal, etc.)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Customers securely pay using available payment methods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Payment success rate, Failed transaction rate, Payment method usage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entury Gothic"/>
                        </a:rPr>
                        <a:t>Must</a:t>
                      </a:r>
                      <a:r>
                        <a:rPr lang="en-GB" sz="1200" b="0" dirty="0" smtClean="0"/>
                        <a:t>‑Have</a:t>
                      </a:r>
                      <a:endParaRPr lang="en-GB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85255" y="1088969"/>
            <a:ext cx="663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Platform Infrastructure &amp; Admin </a:t>
            </a:r>
            <a:r>
              <a:rPr lang="en-GB" b="1" dirty="0" smtClean="0">
                <a:solidFill>
                  <a:schemeClr val="bg1"/>
                </a:solidFill>
              </a:rPr>
              <a:t>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192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842394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94999"/>
              </p:ext>
            </p:extLst>
          </p:nvPr>
        </p:nvGraphicFramePr>
        <p:xfrm>
          <a:off x="2651760" y="1921338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F015 - </a:t>
                      </a:r>
                      <a:r>
                        <a:rPr lang="en-GB" b="0" dirty="0" smtClean="0"/>
                        <a:t>Mobile Responsive Theme Setup</a:t>
                      </a:r>
                      <a:endParaRPr lang="en-GB" sz="1800" b="0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Responsive WordPress/Woo Commerce theme ensuring mobile‑friendly layout.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Website adapts to mobile, tablet, and desktop screens.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Mobile traffic engagement, Mobile conversion rate, Page load speed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entury Gothic"/>
                        </a:rPr>
                        <a:t>Must</a:t>
                      </a:r>
                      <a:r>
                        <a:rPr lang="en-GB" sz="1200" b="0" dirty="0" smtClean="0"/>
                        <a:t>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757" y="1493595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559107"/>
              </p:ext>
            </p:extLst>
          </p:nvPr>
        </p:nvGraphicFramePr>
        <p:xfrm>
          <a:off x="2643447" y="4019515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ID: F016 – </a:t>
                      </a:r>
                      <a:r>
                        <a:rPr lang="en-GB" b="0" dirty="0" smtClean="0"/>
                        <a:t> Analytics &amp; Reporting Dashboard</a:t>
                      </a:r>
                      <a:endParaRPr lang="en-GB" sz="18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err="1" smtClean="0"/>
                        <a:t>WooCommerce</a:t>
                      </a:r>
                      <a:r>
                        <a:rPr lang="en-GB" sz="1200" dirty="0" smtClean="0"/>
                        <a:t> analytics + booking analytics + traffic reporting tools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Admin views sales, bookings, traffic, and customer behaviour insights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Report usage frequency, Sales trend accuracy, Booking trend visibility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entury Gothic"/>
                        </a:rPr>
                        <a:t>Must</a:t>
                      </a:r>
                      <a:r>
                        <a:rPr lang="en-GB" sz="1200" b="0" dirty="0" smtClean="0"/>
                        <a:t>‑Have</a:t>
                      </a:r>
                      <a:endParaRPr lang="en-GB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85255" y="1088969"/>
            <a:ext cx="663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Platform Infrastructure &amp; Admin </a:t>
            </a:r>
            <a:r>
              <a:rPr lang="en-GB" b="1" dirty="0" smtClean="0">
                <a:solidFill>
                  <a:schemeClr val="bg1"/>
                </a:solidFill>
              </a:rPr>
              <a:t>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15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842394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871324"/>
              </p:ext>
            </p:extLst>
          </p:nvPr>
        </p:nvGraphicFramePr>
        <p:xfrm>
          <a:off x="2651760" y="1921338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=""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</a:t>
                      </a:r>
                      <a:r>
                        <a:rPr lang="en-GB" sz="1800" b="1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F017 - </a:t>
                      </a:r>
                      <a:r>
                        <a:rPr lang="en-GB" b="0" dirty="0" smtClean="0"/>
                        <a:t>User Roles &amp; Permission Setup</a:t>
                      </a:r>
                      <a:endParaRPr lang="en-GB" sz="1800" b="0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 smtClean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dirty="0" smtClean="0"/>
                        <a:t>WordPress role management to control admin, editor, shop manager, and staff access</a:t>
                      </a:r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Behaviours: </a:t>
                      </a:r>
                      <a:r>
                        <a:rPr lang="en-GB" sz="1200" dirty="0" smtClean="0"/>
                        <a:t>Different users have access only to the areas relevant to their role</a:t>
                      </a:r>
                      <a:endParaRPr lang="en-GB" sz="12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dirty="0" smtClean="0"/>
                        <a:t>Access control accuracy, Reduction in admin errors, Security compliance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</a:t>
                      </a:r>
                      <a:r>
                        <a:rPr lang="en-GB" sz="1800" b="1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: </a:t>
                      </a:r>
                      <a:r>
                        <a:rPr lang="en-GB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entury Gothic"/>
                        </a:rPr>
                        <a:t>Must</a:t>
                      </a:r>
                      <a:r>
                        <a:rPr lang="en-GB" sz="1200" b="0" dirty="0" smtClean="0"/>
                        <a:t>‑Have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825418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757" y="1493595"/>
            <a:ext cx="11195222" cy="0"/>
            <a:chOff x="457197" y="1235677"/>
            <a:chExt cx="11195222" cy="0"/>
          </a:xfrm>
        </p:grpSpPr>
        <p:cxnSp>
          <p:nvCxnSpPr>
            <p:cNvPr id="9" name="Straight Connector 8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85255" y="1088969"/>
            <a:ext cx="663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Platform Infrastructure &amp; </a:t>
            </a:r>
            <a:r>
              <a:rPr lang="en-GB" b="1" dirty="0" smtClean="0">
                <a:solidFill>
                  <a:schemeClr val="bg1"/>
                </a:solidFill>
              </a:rPr>
              <a:t>Admin – Feature Specifications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08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9278" y="2580620"/>
            <a:ext cx="4267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0350566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5620</TotalTime>
  <Words>1249</Words>
  <Application>Microsoft Office PowerPoint</Application>
  <PresentationFormat>Widescreen</PresentationFormat>
  <Paragraphs>168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seyi Ajayi</dc:creator>
  <cp:lastModifiedBy>KOLAPO LADIPO</cp:lastModifiedBy>
  <cp:revision>164</cp:revision>
  <dcterms:created xsi:type="dcterms:W3CDTF">2017-11-24T01:25:07Z</dcterms:created>
  <dcterms:modified xsi:type="dcterms:W3CDTF">2026-02-09T19:43:36Z</dcterms:modified>
</cp:coreProperties>
</file>